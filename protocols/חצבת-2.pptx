
<file path=[Content_Types].xml><?xml version="1.0" encoding="utf-8"?>
<Types xmlns="http://schemas.openxmlformats.org/package/2006/content-types">
  <Default ContentType="image/vnd.ms-photo" Extension="wdp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Default ContentType="image/x-emf" Extension="emf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0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y="6858000" cx="12192000"/>
  <p:notesSz cx="6858000" cy="9144000"/>
  <p:defaultTextStyle>
    <a:defPPr lvl="0">
      <a:defRPr lang="he-IL"/>
    </a:defPPr>
    <a:lvl1pPr defTabSz="914400" eaLnBrk="1" hangingPunct="1" latinLnBrk="0" lvl="0" marL="0" rtl="1" algn="r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1" algn="r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1" algn="r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1" algn="r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1" algn="r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1" algn="r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1" algn="r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1" algn="r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1" algn="r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68D8-5C4E-41CA-978A-38D4E2F093B6}" type="datetimeFigureOut">
              <a:rPr lang="he-IL" smtClean="0"/>
              <a:t>ט'/אדר א/תשפ"ד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EC60-878D-4258-AB2A-04B6F453BE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62194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68D8-5C4E-41CA-978A-38D4E2F093B6}" type="datetimeFigureOut">
              <a:rPr lang="he-IL" smtClean="0"/>
              <a:t>ט'/אדר א/תשפ"ד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EC60-878D-4258-AB2A-04B6F453BE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432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68D8-5C4E-41CA-978A-38D4E2F093B6}" type="datetimeFigureOut">
              <a:rPr lang="he-IL" smtClean="0"/>
              <a:t>ט'/אדר א/תשפ"ד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EC60-878D-4258-AB2A-04B6F453BE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640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68D8-5C4E-41CA-978A-38D4E2F093B6}" type="datetimeFigureOut">
              <a:rPr lang="he-IL" smtClean="0"/>
              <a:t>ט'/אדר א/תשפ"ד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EC60-878D-4258-AB2A-04B6F453BE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2466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68D8-5C4E-41CA-978A-38D4E2F093B6}" type="datetimeFigureOut">
              <a:rPr lang="he-IL" smtClean="0"/>
              <a:t>ט'/אדר א/תשפ"ד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EC60-878D-4258-AB2A-04B6F453BE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3746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68D8-5C4E-41CA-978A-38D4E2F093B6}" type="datetimeFigureOut">
              <a:rPr lang="he-IL" smtClean="0"/>
              <a:t>ט'/אדר א/תשפ"ד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EC60-878D-4258-AB2A-04B6F453BE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0624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68D8-5C4E-41CA-978A-38D4E2F093B6}" type="datetimeFigureOut">
              <a:rPr lang="he-IL" smtClean="0"/>
              <a:t>ט'/אדר א/תשפ"ד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EC60-878D-4258-AB2A-04B6F453BE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7197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68D8-5C4E-41CA-978A-38D4E2F093B6}" type="datetimeFigureOut">
              <a:rPr lang="he-IL" smtClean="0"/>
              <a:t>ט'/אדר א/תשפ"ד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EC60-878D-4258-AB2A-04B6F453BE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123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68D8-5C4E-41CA-978A-38D4E2F093B6}" type="datetimeFigureOut">
              <a:rPr lang="he-IL" smtClean="0"/>
              <a:t>ט'/אדר א/תשפ"ד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EC60-878D-4258-AB2A-04B6F453BE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5781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68D8-5C4E-41CA-978A-38D4E2F093B6}" type="datetimeFigureOut">
              <a:rPr lang="he-IL" smtClean="0"/>
              <a:t>ט'/אדר א/תשפ"ד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EC60-878D-4258-AB2A-04B6F453BE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8078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168D8-5C4E-41CA-978A-38D4E2F093B6}" type="datetimeFigureOut">
              <a:rPr lang="he-IL" smtClean="0"/>
              <a:t>ט'/אדר א/תשפ"ד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EC60-878D-4258-AB2A-04B6F453BE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202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168D8-5C4E-41CA-978A-38D4E2F093B6}" type="datetimeFigureOut">
              <a:rPr lang="he-IL" smtClean="0"/>
              <a:t>ט'/אדר א/תשפ"ד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9EC60-878D-4258-AB2A-04B6F453BE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2672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991833" y="1122362"/>
            <a:ext cx="9144000" cy="2886111"/>
          </a:xfrm>
        </p:spPr>
        <p:txBody>
          <a:bodyPr>
            <a:normAutofit/>
          </a:bodyPr>
          <a:lstStyle/>
          <a:p>
            <a:r>
              <a:rPr lang="he-IL" b="1" dirty="0" smtClean="0"/>
              <a:t>ריענון </a:t>
            </a:r>
            <a:r>
              <a:rPr lang="he-IL" b="1" dirty="0"/>
              <a:t>ועדכון לצוותי הדסה </a:t>
            </a:r>
            <a:r>
              <a:rPr lang="he-IL" b="1" dirty="0" smtClean="0"/>
              <a:t/>
            </a:r>
            <a:br>
              <a:rPr lang="he-IL" b="1" dirty="0" smtClean="0"/>
            </a:br>
            <a:r>
              <a:rPr lang="he-IL" b="1" dirty="0" smtClean="0"/>
              <a:t> </a:t>
            </a:r>
            <a:r>
              <a:rPr lang="he-IL" b="1" dirty="0"/>
              <a:t>חצבת </a:t>
            </a:r>
            <a:r>
              <a:rPr lang="he-IL" b="1" dirty="0" smtClean="0"/>
              <a:t/>
            </a:r>
            <a:br>
              <a:rPr lang="he-IL" b="1" dirty="0" smtClean="0"/>
            </a:br>
            <a:r>
              <a:rPr lang="he-IL" b="1" dirty="0" smtClean="0"/>
              <a:t> </a:t>
            </a:r>
            <a:r>
              <a:rPr lang="he-IL" b="1" dirty="0"/>
              <a:t>פברואר 2024</a:t>
            </a:r>
            <a:endParaRPr lang="he-IL" dirty="0"/>
          </a:p>
        </p:txBody>
      </p:sp>
      <p:sp>
        <p:nvSpPr>
          <p:cNvPr id="6" name="מלבן 5"/>
          <p:cNvSpPr/>
          <p:nvPr/>
        </p:nvSpPr>
        <p:spPr>
          <a:xfrm>
            <a:off x="6195237" y="5435824"/>
            <a:ext cx="599676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sz="1600" b="1" dirty="0" smtClean="0">
                <a:latin typeface="Arial,Bold"/>
              </a:rPr>
              <a:t>המחלקה לרפואה דחופה ע"כ</a:t>
            </a:r>
          </a:p>
          <a:p>
            <a:endParaRPr lang="he-IL" sz="1600" b="1" dirty="0">
              <a:latin typeface="Arial,Bold"/>
            </a:endParaRPr>
          </a:p>
          <a:p>
            <a:r>
              <a:rPr lang="he-IL" sz="1600" b="1" dirty="0" smtClean="0">
                <a:latin typeface="Arial,Bold"/>
              </a:rPr>
              <a:t>המחלקה </a:t>
            </a:r>
            <a:r>
              <a:rPr lang="he-IL" sz="1600" b="1" dirty="0">
                <a:latin typeface="Arial,Bold"/>
              </a:rPr>
              <a:t>למיקרוביולוגיה קלינית ומחלות </a:t>
            </a:r>
            <a:r>
              <a:rPr lang="he-IL" sz="1600" b="1" dirty="0" smtClean="0">
                <a:latin typeface="Arial,Bold"/>
              </a:rPr>
              <a:t>זיהומיות</a:t>
            </a:r>
          </a:p>
          <a:p>
            <a:endParaRPr lang="he-IL" sz="1600" b="1" dirty="0">
              <a:latin typeface="Arial,Bold"/>
            </a:endParaRPr>
          </a:p>
          <a:p>
            <a:r>
              <a:rPr lang="he-IL" sz="1600" b="1" dirty="0">
                <a:latin typeface="Arial,Bold"/>
              </a:rPr>
              <a:t>היחידה </a:t>
            </a:r>
            <a:r>
              <a:rPr lang="he-IL" sz="1600" b="1" dirty="0" smtClean="0">
                <a:latin typeface="Arial,Bold"/>
              </a:rPr>
              <a:t>לנוירולוגיה </a:t>
            </a:r>
            <a:r>
              <a:rPr lang="he-IL" sz="1600" b="1" dirty="0">
                <a:latin typeface="Arial,Bold"/>
              </a:rPr>
              <a:t>קלינית, היחידה למניעת </a:t>
            </a:r>
            <a:r>
              <a:rPr lang="he-IL" sz="1600" b="1" dirty="0" smtClean="0">
                <a:latin typeface="Arial,Bold"/>
              </a:rPr>
              <a:t>זיהומים</a:t>
            </a:r>
          </a:p>
          <a:p>
            <a:endParaRPr lang="he-IL" sz="1600" b="1" dirty="0">
              <a:latin typeface="Arial,Bold"/>
            </a:endParaRPr>
          </a:p>
          <a:p>
            <a:endParaRPr lang="he-IL" sz="1600" dirty="0"/>
          </a:p>
        </p:txBody>
      </p:sp>
      <p:pic>
        <p:nvPicPr>
          <p:cNvPr id="3074" name="Picture 2" descr="Hadassah Logo - LogoDi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112269"/>
            <a:ext cx="1219483" cy="10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4" y="4550735"/>
            <a:ext cx="2538459" cy="217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1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חצבת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e-IL" sz="2400" dirty="0"/>
              <a:t>חצבת הינה מחלה </a:t>
            </a:r>
            <a:r>
              <a:rPr lang="he-IL" sz="2400" dirty="0" smtClean="0"/>
              <a:t>נגיפית (ויראלית) </a:t>
            </a:r>
            <a:r>
              <a:rPr lang="he-IL" sz="2400" dirty="0"/>
              <a:t>מדבקת ביותר המועברת באופן נשימתי בין בני </a:t>
            </a:r>
            <a:r>
              <a:rPr lang="he-IL" sz="2400" dirty="0" smtClean="0"/>
              <a:t>אדם</a:t>
            </a:r>
            <a:endParaRPr lang="he-IL" sz="2400" dirty="0"/>
          </a:p>
          <a:p>
            <a:endParaRPr lang="he-IL" sz="2400" dirty="0"/>
          </a:p>
          <a:p>
            <a:r>
              <a:rPr lang="he-IL" sz="2400" dirty="0"/>
              <a:t>תקופת הדגירה של חצבת היא לרוב בין 8 עד 12 יום מחשיפה, עם טווח מ- 7 עד 21 יום, </a:t>
            </a:r>
            <a:r>
              <a:rPr lang="he-IL" sz="2400" dirty="0" smtClean="0"/>
              <a:t>ואילו התקופה </a:t>
            </a:r>
            <a:r>
              <a:rPr lang="he-IL" sz="2400" dirty="0"/>
              <a:t>המידבקת היא מ- 4 ימים לפני הופעת הפריחה ועד 4 ימים אחרי תחילת </a:t>
            </a:r>
            <a:r>
              <a:rPr lang="he-IL" sz="2400" dirty="0" smtClean="0"/>
              <a:t>הופעתה</a:t>
            </a:r>
          </a:p>
          <a:p>
            <a:endParaRPr lang="he-IL" sz="2400" dirty="0"/>
          </a:p>
          <a:p>
            <a:r>
              <a:rPr lang="he-IL" sz="2400" dirty="0"/>
              <a:t>קיים חיסון שגרתי יעיל מאוד כנגד המחלה הניתן בגיל שנה ושוב, נכון להיום, בגיל 6 </a:t>
            </a:r>
            <a:r>
              <a:rPr lang="he-IL" sz="2400" dirty="0" smtClean="0"/>
              <a:t>שנים</a:t>
            </a:r>
          </a:p>
          <a:p>
            <a:endParaRPr lang="he-IL" sz="2400" dirty="0" smtClean="0"/>
          </a:p>
          <a:p>
            <a:r>
              <a:rPr lang="he-IL" sz="2400" dirty="0" smtClean="0"/>
              <a:t>כל עובדי הבריאות </a:t>
            </a:r>
            <a:r>
              <a:rPr lang="he-IL" sz="2400" dirty="0"/>
              <a:t>אמורים להיות מחוסנים ב- 2 </a:t>
            </a:r>
            <a:r>
              <a:rPr lang="he-IL" sz="2400" dirty="0" smtClean="0"/>
              <a:t>מנות</a:t>
            </a:r>
          </a:p>
          <a:p>
            <a:endParaRPr lang="he-IL" sz="2400" dirty="0" smtClean="0"/>
          </a:p>
          <a:p>
            <a:r>
              <a:rPr lang="he-IL" sz="2400" dirty="0" smtClean="0"/>
              <a:t> </a:t>
            </a:r>
            <a:r>
              <a:rPr lang="he-IL" sz="2400" dirty="0" err="1"/>
              <a:t>מדוכאי</a:t>
            </a:r>
            <a:r>
              <a:rPr lang="he-IL" sz="2400" dirty="0"/>
              <a:t> חיסון עשויים לחלות במחלה קשה </a:t>
            </a:r>
            <a:r>
              <a:rPr lang="he-IL" sz="2400" dirty="0" smtClean="0"/>
              <a:t>למרות שחוסנו בעבר</a:t>
            </a:r>
          </a:p>
        </p:txBody>
      </p:sp>
      <p:pic>
        <p:nvPicPr>
          <p:cNvPr id="4" name="Picture 2" descr="Hadassah Logo - LogoDi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112269"/>
            <a:ext cx="1219483" cy="10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748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304544" y="307919"/>
            <a:ext cx="10515600" cy="1325563"/>
          </a:xfrm>
        </p:spPr>
        <p:txBody>
          <a:bodyPr/>
          <a:lstStyle/>
          <a:p>
            <a:r>
              <a:rPr lang="he-IL" dirty="0" smtClean="0"/>
              <a:t>מי מוגדר כמחוסן לחצבת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838200" y="2144602"/>
            <a:ext cx="10515600" cy="4351338"/>
          </a:xfrm>
        </p:spPr>
        <p:txBody>
          <a:bodyPr>
            <a:normAutofit/>
          </a:bodyPr>
          <a:lstStyle/>
          <a:p>
            <a:r>
              <a:rPr lang="he-IL" sz="2400" dirty="0" smtClean="0"/>
              <a:t>כל עובדי הבריאות / הדסה אמורים להיות מחוסנים </a:t>
            </a:r>
          </a:p>
          <a:p>
            <a:endParaRPr lang="he-IL" sz="2400" dirty="0" smtClean="0"/>
          </a:p>
          <a:p>
            <a:r>
              <a:rPr lang="he-IL" sz="2400" dirty="0" smtClean="0"/>
              <a:t>כל מי שקיבל במהלך חייו שני חיסוני </a:t>
            </a:r>
            <a:r>
              <a:rPr lang="en-US" sz="2400" dirty="0" smtClean="0"/>
              <a:t>MMR</a:t>
            </a:r>
          </a:p>
          <a:p>
            <a:pPr marL="0" indent="0">
              <a:buNone/>
            </a:pPr>
            <a:r>
              <a:rPr lang="he-IL" sz="2400" dirty="0" smtClean="0"/>
              <a:t> </a:t>
            </a:r>
          </a:p>
          <a:p>
            <a:r>
              <a:rPr lang="he-IL" sz="2400" dirty="0" smtClean="0"/>
              <a:t>כל מי שנולד לפני שנת 1957 נחשב מחוסן ע"פ משרד הבריאות</a:t>
            </a:r>
          </a:p>
          <a:p>
            <a:endParaRPr lang="he-IL" sz="2400" dirty="0" smtClean="0"/>
          </a:p>
          <a:p>
            <a:r>
              <a:rPr lang="he-IL" sz="2400" dirty="0" smtClean="0"/>
              <a:t>לכל מי שיש נוגדנים למחלה </a:t>
            </a:r>
          </a:p>
          <a:p>
            <a:endParaRPr lang="he-IL" sz="2400" dirty="0" smtClean="0"/>
          </a:p>
        </p:txBody>
      </p:sp>
      <p:pic>
        <p:nvPicPr>
          <p:cNvPr id="4" name="Picture 2" descr="Hadassah Logo - LogoDi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112269"/>
            <a:ext cx="1219483" cy="10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705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038128" y="206167"/>
            <a:ext cx="7829550" cy="685801"/>
          </a:xfrm>
        </p:spPr>
        <p:txBody>
          <a:bodyPr>
            <a:normAutofit fontScale="90000"/>
          </a:bodyPr>
          <a:lstStyle/>
          <a:p>
            <a:r>
              <a:rPr lang="he-IL" sz="4900" dirty="0" smtClean="0"/>
              <a:t>תסמינים </a:t>
            </a:r>
            <a:r>
              <a:rPr lang="he-IL" dirty="0" smtClean="0"/>
              <a:t>	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352078" y="1293938"/>
            <a:ext cx="10515600" cy="2631965"/>
          </a:xfrm>
        </p:spPr>
        <p:txBody>
          <a:bodyPr>
            <a:normAutofit/>
          </a:bodyPr>
          <a:lstStyle/>
          <a:p>
            <a:r>
              <a:rPr lang="he-IL" sz="2400" dirty="0" smtClean="0"/>
              <a:t>חום </a:t>
            </a:r>
          </a:p>
          <a:p>
            <a:r>
              <a:rPr lang="he-IL" sz="2400" dirty="0" smtClean="0"/>
              <a:t>שיעול</a:t>
            </a:r>
          </a:p>
          <a:p>
            <a:r>
              <a:rPr lang="he-IL" sz="2400" dirty="0" smtClean="0"/>
              <a:t>נזלת</a:t>
            </a:r>
          </a:p>
          <a:p>
            <a:r>
              <a:rPr lang="he-IL" sz="2400" dirty="0" smtClean="0"/>
              <a:t>אודם בלחמיות ופריחה </a:t>
            </a:r>
            <a:r>
              <a:rPr lang="he-IL" sz="2400" dirty="0" err="1" smtClean="0"/>
              <a:t>מאקולרית</a:t>
            </a:r>
            <a:r>
              <a:rPr lang="he-IL" sz="2400" dirty="0" smtClean="0"/>
              <a:t> שמתחילה בראש ובצוואר</a:t>
            </a:r>
          </a:p>
          <a:p>
            <a:r>
              <a:rPr lang="he-IL" sz="2400" dirty="0" smtClean="0"/>
              <a:t>נקודות לבנות ברירית הפה - </a:t>
            </a:r>
            <a:r>
              <a:rPr lang="en-US" sz="2400" dirty="0" err="1" smtClean="0"/>
              <a:t>Koplik</a:t>
            </a:r>
            <a:r>
              <a:rPr lang="en-US" sz="2400" dirty="0" smtClean="0"/>
              <a:t> spots – </a:t>
            </a:r>
            <a:r>
              <a:rPr lang="he-IL" sz="2400" dirty="0" smtClean="0"/>
              <a:t> הן סימן ייחודי</a:t>
            </a:r>
          </a:p>
          <a:p>
            <a:endParaRPr lang="he-IL" sz="2400" dirty="0" smtClean="0"/>
          </a:p>
          <a:p>
            <a:endParaRPr lang="he-IL" sz="2400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48" y="4044043"/>
            <a:ext cx="4121240" cy="2743200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521" y="4044043"/>
            <a:ext cx="4181838" cy="2783536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592" y="4044043"/>
            <a:ext cx="3500064" cy="2707631"/>
          </a:xfrm>
          <a:prstGeom prst="rect">
            <a:avLst/>
          </a:prstGeom>
        </p:spPr>
      </p:pic>
      <p:pic>
        <p:nvPicPr>
          <p:cNvPr id="7" name="Picture 2" descr="Hadassah Logo - LogoDix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112269"/>
            <a:ext cx="1219483" cy="10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963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74628" y="0"/>
            <a:ext cx="10515600" cy="1325563"/>
          </a:xfrm>
        </p:spPr>
        <p:txBody>
          <a:bodyPr/>
          <a:lstStyle/>
          <a:p>
            <a:r>
              <a:rPr lang="he-IL" dirty="0" smtClean="0"/>
              <a:t>סיבוכים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400" dirty="0" smtClean="0"/>
              <a:t>זיהום נוסף ע"י חיידקים</a:t>
            </a:r>
          </a:p>
          <a:p>
            <a:endParaRPr lang="he-IL" sz="2400" dirty="0" smtClean="0"/>
          </a:p>
          <a:p>
            <a:r>
              <a:rPr lang="he-IL" sz="2400" dirty="0" smtClean="0"/>
              <a:t>דלקת ריאות </a:t>
            </a:r>
          </a:p>
          <a:p>
            <a:endParaRPr lang="he-IL" sz="2400" dirty="0" smtClean="0"/>
          </a:p>
          <a:p>
            <a:r>
              <a:rPr lang="he-IL" sz="2400" dirty="0" err="1" smtClean="0"/>
              <a:t>אנצפליטיס</a:t>
            </a:r>
            <a:endParaRPr lang="he-IL" sz="2400" dirty="0" smtClean="0"/>
          </a:p>
          <a:p>
            <a:endParaRPr lang="he-IL" sz="2400" dirty="0" smtClean="0"/>
          </a:p>
          <a:p>
            <a:endParaRPr lang="he-IL" sz="2400" dirty="0"/>
          </a:p>
        </p:txBody>
      </p:sp>
      <p:pic>
        <p:nvPicPr>
          <p:cNvPr id="4" name="Picture 2" descr="Hadassah Logo - LogoDi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112269"/>
            <a:ext cx="1219483" cy="10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370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76400" y="0"/>
            <a:ext cx="10515600" cy="1325563"/>
          </a:xfrm>
        </p:spPr>
        <p:txBody>
          <a:bodyPr/>
          <a:lstStyle/>
          <a:p>
            <a:r>
              <a:rPr lang="he-IL" dirty="0" smtClean="0"/>
              <a:t>אוכלוסיות בסיכון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e-IL" sz="2400" dirty="0" err="1" smtClean="0"/>
              <a:t>מדוכאי</a:t>
            </a:r>
            <a:r>
              <a:rPr lang="he-IL" sz="2400" dirty="0" smtClean="0"/>
              <a:t> חיסון </a:t>
            </a:r>
          </a:p>
          <a:p>
            <a:pPr marL="0" indent="0">
              <a:buNone/>
            </a:pPr>
            <a:endParaRPr lang="he-IL" sz="2400" dirty="0" smtClean="0"/>
          </a:p>
          <a:p>
            <a:pPr lvl="1"/>
            <a:r>
              <a:rPr lang="he-IL" sz="2000" dirty="0" smtClean="0"/>
              <a:t>חולי </a:t>
            </a:r>
            <a:r>
              <a:rPr lang="he-IL" sz="2000" dirty="0"/>
              <a:t>סרטן </a:t>
            </a:r>
            <a:r>
              <a:rPr lang="he-IL" sz="2000" dirty="0" smtClean="0"/>
              <a:t>תחת טיפול כימותרפיה</a:t>
            </a:r>
          </a:p>
          <a:p>
            <a:pPr lvl="1"/>
            <a:r>
              <a:rPr lang="he-IL" sz="2000" dirty="0" smtClean="0"/>
              <a:t>מושתלי איברים</a:t>
            </a:r>
          </a:p>
          <a:p>
            <a:pPr lvl="1"/>
            <a:r>
              <a:rPr lang="he-IL" sz="2000" dirty="0" smtClean="0"/>
              <a:t>מושתלי </a:t>
            </a:r>
            <a:r>
              <a:rPr lang="he-IL" sz="2000" dirty="0"/>
              <a:t>מח </a:t>
            </a:r>
            <a:r>
              <a:rPr lang="he-IL" sz="2000" dirty="0" smtClean="0"/>
              <a:t>עצם</a:t>
            </a:r>
          </a:p>
          <a:p>
            <a:pPr lvl="1"/>
            <a:r>
              <a:rPr lang="he-IL" sz="2000" dirty="0" smtClean="0"/>
              <a:t>חולי </a:t>
            </a:r>
            <a:r>
              <a:rPr lang="en-US" sz="2000" dirty="0"/>
              <a:t>HIV </a:t>
            </a:r>
            <a:r>
              <a:rPr lang="he-IL" sz="2000" dirty="0" smtClean="0"/>
              <a:t> עם דיכוי חיסוני </a:t>
            </a:r>
          </a:p>
          <a:p>
            <a:pPr marL="457200" lvl="1" indent="0">
              <a:buNone/>
            </a:pPr>
            <a:endParaRPr lang="he-IL" sz="2000" dirty="0" smtClean="0"/>
          </a:p>
          <a:p>
            <a:pPr marL="0" indent="0">
              <a:buNone/>
            </a:pPr>
            <a:r>
              <a:rPr lang="he-IL" sz="2400" dirty="0" smtClean="0"/>
              <a:t>נשים בהריון</a:t>
            </a:r>
          </a:p>
          <a:p>
            <a:pPr marL="0" indent="0">
              <a:buNone/>
            </a:pPr>
            <a:endParaRPr lang="he-IL" sz="2400" dirty="0" smtClean="0"/>
          </a:p>
          <a:p>
            <a:pPr marL="0" indent="0">
              <a:buNone/>
            </a:pPr>
            <a:r>
              <a:rPr lang="he-IL" sz="2400" dirty="0" smtClean="0"/>
              <a:t>גילאים קיצוניים </a:t>
            </a:r>
          </a:p>
          <a:p>
            <a:pPr marL="0" indent="0">
              <a:buNone/>
            </a:pPr>
            <a:endParaRPr lang="he-IL" sz="2400" dirty="0"/>
          </a:p>
        </p:txBody>
      </p:sp>
      <p:pic>
        <p:nvPicPr>
          <p:cNvPr id="4" name="Picture 2" descr="Hadassah Logo - LogoDi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112269"/>
            <a:ext cx="1219483" cy="10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1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8200" y="673469"/>
            <a:ext cx="10515600" cy="1325563"/>
          </a:xfrm>
        </p:spPr>
        <p:txBody>
          <a:bodyPr/>
          <a:lstStyle/>
          <a:p>
            <a:pPr algn="ctr"/>
            <a:r>
              <a:rPr lang="he-IL" b="1" dirty="0" smtClean="0">
                <a:latin typeface="Arial,Bold"/>
              </a:rPr>
              <a:t>הגדרת מקרה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838200" y="3484304"/>
            <a:ext cx="10515600" cy="949473"/>
          </a:xfrm>
        </p:spPr>
        <p:txBody>
          <a:bodyPr/>
          <a:lstStyle/>
          <a:p>
            <a:pPr marL="0" indent="0" algn="ctr">
              <a:buNone/>
            </a:pPr>
            <a:r>
              <a:rPr lang="he-IL" dirty="0" smtClean="0">
                <a:latin typeface="Arial" panose="020B0604020202020204" pitchFamily="34" charset="0"/>
              </a:rPr>
              <a:t>מחלה מתאימה קלינית עם או ללא קשר לחשיפה לחולה חצבת ידוע</a:t>
            </a:r>
            <a:endParaRPr lang="he-IL" dirty="0"/>
          </a:p>
        </p:txBody>
      </p:sp>
      <p:pic>
        <p:nvPicPr>
          <p:cNvPr id="5" name="Picture 2" descr="Hadassah Logo - LogoDi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112269"/>
            <a:ext cx="1219483" cy="10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638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37191" y="-134606"/>
            <a:ext cx="10515600" cy="1325563"/>
          </a:xfrm>
        </p:spPr>
        <p:txBody>
          <a:bodyPr>
            <a:normAutofit/>
          </a:bodyPr>
          <a:lstStyle/>
          <a:p>
            <a:r>
              <a:rPr lang="he-IL" sz="3600" dirty="0" smtClean="0"/>
              <a:t>מה עושים במקרה שיש מטופל עם חשד לחצבת  ??</a:t>
            </a:r>
            <a:endParaRPr lang="he-IL" sz="3600" dirty="0"/>
          </a:p>
        </p:txBody>
      </p:sp>
      <p:sp>
        <p:nvSpPr>
          <p:cNvPr id="6" name="מלבן 5"/>
          <p:cNvSpPr/>
          <p:nvPr/>
        </p:nvSpPr>
        <p:spPr>
          <a:xfrm>
            <a:off x="5631490" y="2632371"/>
            <a:ext cx="1827028" cy="11694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1. מתן מסיכה כירורגית למטופל </a:t>
            </a:r>
            <a:endParaRPr lang="he-IL" dirty="0"/>
          </a:p>
        </p:txBody>
      </p:sp>
      <p:sp>
        <p:nvSpPr>
          <p:cNvPr id="7" name="מלבן 6"/>
          <p:cNvSpPr/>
          <p:nvPr/>
        </p:nvSpPr>
        <p:spPr>
          <a:xfrm>
            <a:off x="2947210" y="2632371"/>
            <a:ext cx="1827028" cy="11694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2. דיווח לאחות אחראית משמרת</a:t>
            </a:r>
            <a:endParaRPr lang="he-IL" dirty="0"/>
          </a:p>
        </p:txBody>
      </p:sp>
      <p:sp>
        <p:nvSpPr>
          <p:cNvPr id="9" name="מלבן 8"/>
          <p:cNvSpPr/>
          <p:nvPr/>
        </p:nvSpPr>
        <p:spPr>
          <a:xfrm>
            <a:off x="230372" y="2623990"/>
            <a:ext cx="1827028" cy="11694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3. בידוד נשימתי </a:t>
            </a:r>
          </a:p>
          <a:p>
            <a:pPr algn="ctr"/>
            <a:r>
              <a:rPr lang="he-IL" dirty="0" smtClean="0"/>
              <a:t>חדר לחץ שלילי - כשקיים</a:t>
            </a:r>
            <a:endParaRPr lang="he-IL" dirty="0"/>
          </a:p>
        </p:txBody>
      </p:sp>
      <p:sp>
        <p:nvSpPr>
          <p:cNvPr id="15" name="מלבן מעוגל 14"/>
          <p:cNvSpPr/>
          <p:nvPr/>
        </p:nvSpPr>
        <p:spPr>
          <a:xfrm>
            <a:off x="8362613" y="2148642"/>
            <a:ext cx="2392325" cy="21369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קבלת חולים</a:t>
            </a:r>
          </a:p>
          <a:p>
            <a:pPr algn="ctr"/>
            <a:endParaRPr lang="he-IL" dirty="0"/>
          </a:p>
          <a:p>
            <a:pPr algn="ctr"/>
            <a:r>
              <a:rPr lang="he-IL" dirty="0" err="1" smtClean="0"/>
              <a:t>טריאז</a:t>
            </a:r>
            <a:r>
              <a:rPr lang="he-IL" dirty="0" smtClean="0"/>
              <a:t>'</a:t>
            </a:r>
          </a:p>
          <a:p>
            <a:pPr algn="ctr"/>
            <a:endParaRPr lang="he-IL" dirty="0"/>
          </a:p>
          <a:p>
            <a:pPr algn="ctr"/>
            <a:r>
              <a:rPr lang="he-IL" dirty="0" smtClean="0"/>
              <a:t>כל שטח </a:t>
            </a:r>
            <a:r>
              <a:rPr lang="he-IL" dirty="0" err="1" smtClean="0"/>
              <a:t>במלר"ד</a:t>
            </a:r>
            <a:endParaRPr lang="he-IL" dirty="0"/>
          </a:p>
        </p:txBody>
      </p:sp>
      <p:sp>
        <p:nvSpPr>
          <p:cNvPr id="18" name="חץ שמאלה 17"/>
          <p:cNvSpPr/>
          <p:nvPr/>
        </p:nvSpPr>
        <p:spPr>
          <a:xfrm>
            <a:off x="7621660" y="2929965"/>
            <a:ext cx="563526" cy="46783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חץ שמאלה 18"/>
          <p:cNvSpPr/>
          <p:nvPr/>
        </p:nvSpPr>
        <p:spPr>
          <a:xfrm>
            <a:off x="4904821" y="2974806"/>
            <a:ext cx="563526" cy="46783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חץ שמאלה 19"/>
          <p:cNvSpPr/>
          <p:nvPr/>
        </p:nvSpPr>
        <p:spPr>
          <a:xfrm>
            <a:off x="2220542" y="2929965"/>
            <a:ext cx="563526" cy="46783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2" name="Picture 2" descr="Doctor running stock illustration. Illustration of clinic - 540483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317" b="92014" l="10000" r="99692">
                        <a14:foregroundMark x1="68692" y1="77122" x2="64308" y2="86691"/>
                        <a14:foregroundMark x1="52231" y1="76691" x2="61923" y2="90719"/>
                        <a14:foregroundMark x1="77462" y1="68993" x2="75000" y2="92086"/>
                        <a14:foregroundMark x1="26538" y1="75324" x2="63846" y2="80288"/>
                        <a14:foregroundMark x1="46923" y1="9137" x2="85692" y2="10504"/>
                        <a14:foregroundMark x1="56615" y1="8705" x2="81308" y2="8273"/>
                        <a14:foregroundMark x1="84692" y1="47698" x2="99692" y2="562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290" y="2420096"/>
            <a:ext cx="1490808" cy="1594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Hadassah Logo - LogoDix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112269"/>
            <a:ext cx="1219483" cy="10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705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טיפול </a:t>
            </a:r>
            <a:endParaRPr lang="he-IL" dirty="0"/>
          </a:p>
        </p:txBody>
      </p:sp>
      <p:sp>
        <p:nvSpPr>
          <p:cNvPr id="5" name="מלבן 4"/>
          <p:cNvSpPr/>
          <p:nvPr/>
        </p:nvSpPr>
        <p:spPr>
          <a:xfrm>
            <a:off x="9731891" y="1733215"/>
            <a:ext cx="1827028" cy="2339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הגבלת הטיפול לצוות מחוסן בלבד </a:t>
            </a:r>
            <a:endParaRPr lang="he-IL" dirty="0"/>
          </a:p>
        </p:txBody>
      </p:sp>
      <p:sp>
        <p:nvSpPr>
          <p:cNvPr id="6" name="מלבן 5"/>
          <p:cNvSpPr/>
          <p:nvPr/>
        </p:nvSpPr>
        <p:spPr>
          <a:xfrm>
            <a:off x="5476210" y="1733217"/>
            <a:ext cx="1827028" cy="2339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התייעצות עם כונן זיהומיות </a:t>
            </a:r>
            <a:endParaRPr lang="he-IL" dirty="0"/>
          </a:p>
        </p:txBody>
      </p:sp>
      <p:sp>
        <p:nvSpPr>
          <p:cNvPr id="7" name="מלבן 6"/>
          <p:cNvSpPr/>
          <p:nvPr/>
        </p:nvSpPr>
        <p:spPr>
          <a:xfrm>
            <a:off x="3453366" y="1733217"/>
            <a:ext cx="1827028" cy="2339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דיווח למנהלת תורנית</a:t>
            </a:r>
            <a:endParaRPr lang="he-IL" dirty="0"/>
          </a:p>
        </p:txBody>
      </p:sp>
      <p:sp>
        <p:nvSpPr>
          <p:cNvPr id="8" name="מלבן 7"/>
          <p:cNvSpPr/>
          <p:nvPr/>
        </p:nvSpPr>
        <p:spPr>
          <a:xfrm>
            <a:off x="1430522" y="1733217"/>
            <a:ext cx="1827028" cy="2339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שליחת מעבדה* </a:t>
            </a:r>
            <a:endParaRPr lang="he-IL" dirty="0"/>
          </a:p>
        </p:txBody>
      </p:sp>
      <p:sp>
        <p:nvSpPr>
          <p:cNvPr id="9" name="מלבן 8"/>
          <p:cNvSpPr/>
          <p:nvPr/>
        </p:nvSpPr>
        <p:spPr>
          <a:xfrm>
            <a:off x="7604050" y="1733215"/>
            <a:ext cx="1827028" cy="2339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התמגנות הצוות </a:t>
            </a:r>
          </a:p>
          <a:p>
            <a:pPr algn="ctr"/>
            <a:r>
              <a:rPr lang="he-IL" dirty="0" smtClean="0"/>
              <a:t>מסיכת </a:t>
            </a:r>
            <a:r>
              <a:rPr lang="en-US" dirty="0" smtClean="0"/>
              <a:t>N</a:t>
            </a:r>
            <a:r>
              <a:rPr lang="he-IL" dirty="0" smtClean="0"/>
              <a:t>95</a:t>
            </a:r>
          </a:p>
          <a:p>
            <a:pPr algn="ctr"/>
            <a:r>
              <a:rPr lang="he-IL" sz="1400" dirty="0" smtClean="0"/>
              <a:t>לוודא אטימה של </a:t>
            </a:r>
            <a:r>
              <a:rPr lang="he-IL" sz="1400" dirty="0" err="1" smtClean="0"/>
              <a:t>המסיכה</a:t>
            </a:r>
            <a:endParaRPr lang="he-IL" sz="1400" dirty="0"/>
          </a:p>
        </p:txBody>
      </p:sp>
      <p:pic>
        <p:nvPicPr>
          <p:cNvPr id="11" name="Picture 2" descr="Hadassah Logo - LogoDi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112269"/>
            <a:ext cx="1219483" cy="10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272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בירור + מעבדה  </a:t>
            </a:r>
            <a:endParaRPr lang="he-IL" dirty="0"/>
          </a:p>
        </p:txBody>
      </p:sp>
      <p:sp>
        <p:nvSpPr>
          <p:cNvPr id="5" name="מלבן 4"/>
          <p:cNvSpPr/>
          <p:nvPr/>
        </p:nvSpPr>
        <p:spPr>
          <a:xfrm>
            <a:off x="9731891" y="1733215"/>
            <a:ext cx="1827028" cy="2466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בירור בהתאם לתלונה כרגיל</a:t>
            </a:r>
            <a:endParaRPr lang="he-IL" dirty="0"/>
          </a:p>
        </p:txBody>
      </p:sp>
      <p:sp>
        <p:nvSpPr>
          <p:cNvPr id="6" name="מלבן 5"/>
          <p:cNvSpPr/>
          <p:nvPr/>
        </p:nvSpPr>
        <p:spPr>
          <a:xfrm>
            <a:off x="5476210" y="1733217"/>
            <a:ext cx="1827028" cy="2466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משטח </a:t>
            </a:r>
            <a:r>
              <a:rPr lang="he-IL" dirty="0" err="1" smtClean="0"/>
              <a:t>נזופרנגיאלי</a:t>
            </a:r>
            <a:endParaRPr lang="he-IL" dirty="0" smtClean="0"/>
          </a:p>
          <a:p>
            <a:pPr algn="ctr"/>
            <a:r>
              <a:rPr lang="he-IL" dirty="0" smtClean="0"/>
              <a:t>(מטוש נגיפים)</a:t>
            </a:r>
          </a:p>
          <a:p>
            <a:pPr algn="ctr"/>
            <a:r>
              <a:rPr lang="he-IL" dirty="0" smtClean="0"/>
              <a:t>פקק אדום</a:t>
            </a:r>
          </a:p>
          <a:p>
            <a:pPr algn="ctr"/>
            <a:r>
              <a:rPr lang="he-IL" dirty="0" smtClean="0"/>
              <a:t>קוד 210841</a:t>
            </a:r>
            <a:endParaRPr lang="he-IL" dirty="0"/>
          </a:p>
        </p:txBody>
      </p:sp>
      <p:sp>
        <p:nvSpPr>
          <p:cNvPr id="7" name="מלבן 6"/>
          <p:cNvSpPr/>
          <p:nvPr/>
        </p:nvSpPr>
        <p:spPr>
          <a:xfrm>
            <a:off x="3453366" y="1733217"/>
            <a:ext cx="1827028" cy="2466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שתן – כוס </a:t>
            </a:r>
            <a:r>
              <a:rPr lang="he-IL" dirty="0" err="1" smtClean="0"/>
              <a:t>סטירילית</a:t>
            </a:r>
            <a:r>
              <a:rPr lang="he-IL" dirty="0" smtClean="0"/>
              <a:t> </a:t>
            </a:r>
          </a:p>
          <a:p>
            <a:pPr algn="ctr"/>
            <a:r>
              <a:rPr lang="he-IL" dirty="0" smtClean="0"/>
              <a:t>קוד 210841</a:t>
            </a:r>
            <a:endParaRPr lang="he-IL" dirty="0"/>
          </a:p>
        </p:txBody>
      </p:sp>
      <p:sp>
        <p:nvSpPr>
          <p:cNvPr id="8" name="מלבן 7"/>
          <p:cNvSpPr/>
          <p:nvPr/>
        </p:nvSpPr>
        <p:spPr>
          <a:xfrm>
            <a:off x="1430522" y="1733217"/>
            <a:ext cx="1827028" cy="2466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עדכון מעבדה </a:t>
            </a:r>
            <a:r>
              <a:rPr lang="he-IL" dirty="0" err="1" smtClean="0"/>
              <a:t>וירולוגית</a:t>
            </a:r>
            <a:r>
              <a:rPr lang="he-IL" dirty="0" smtClean="0"/>
              <a:t> 78570</a:t>
            </a:r>
            <a:endParaRPr lang="he-IL" dirty="0"/>
          </a:p>
        </p:txBody>
      </p:sp>
      <p:sp>
        <p:nvSpPr>
          <p:cNvPr id="9" name="מלבן 8"/>
          <p:cNvSpPr/>
          <p:nvPr/>
        </p:nvSpPr>
        <p:spPr>
          <a:xfrm>
            <a:off x="7604050" y="1733215"/>
            <a:ext cx="1827028" cy="2466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סרולוגיה</a:t>
            </a:r>
          </a:p>
          <a:p>
            <a:pPr algn="ctr"/>
            <a:r>
              <a:rPr lang="en-US" sz="1400" dirty="0" smtClean="0"/>
              <a:t>IGM + IGG </a:t>
            </a:r>
          </a:p>
          <a:p>
            <a:pPr algn="ctr"/>
            <a:r>
              <a:rPr lang="he-IL" sz="1400" dirty="0" smtClean="0"/>
              <a:t>קוד 210032</a:t>
            </a:r>
          </a:p>
          <a:p>
            <a:pPr algn="ctr"/>
            <a:r>
              <a:rPr lang="he-IL" sz="1400" dirty="0" smtClean="0"/>
              <a:t>קוד 210033</a:t>
            </a:r>
            <a:endParaRPr lang="he-IL" sz="1400" dirty="0"/>
          </a:p>
        </p:txBody>
      </p:sp>
      <p:pic>
        <p:nvPicPr>
          <p:cNvPr id="12" name="Picture 2" descr="Hadassah Logo - LogoDi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112269"/>
            <a:ext cx="1219483" cy="10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670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הנחיות בשחרור – </a:t>
            </a:r>
            <a:r>
              <a:rPr lang="he-IL" sz="3600" dirty="0" smtClean="0"/>
              <a:t>ע"פ משרד בריאות  </a:t>
            </a:r>
            <a:endParaRPr lang="he-IL" sz="3600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חולה </a:t>
            </a:r>
            <a:r>
              <a:rPr lang="he-IL" dirty="0"/>
              <a:t>עם תסמיני חצבת </a:t>
            </a:r>
            <a:r>
              <a:rPr lang="he-IL" dirty="0" smtClean="0"/>
              <a:t>יישאר </a:t>
            </a:r>
            <a:r>
              <a:rPr lang="he-IL" dirty="0"/>
              <a:t>במקום המגורים במשך 4 ימים מהופעת</a:t>
            </a:r>
          </a:p>
          <a:p>
            <a:pPr marL="0" indent="0">
              <a:buNone/>
            </a:pPr>
            <a:r>
              <a:rPr lang="he-IL" dirty="0"/>
              <a:t>הפריחה, וימנע ממגע עם בלתי מחוסנים, בפרט עם אוכלוסיות בסיכון, כולל בני משפחה </a:t>
            </a:r>
            <a:r>
              <a:rPr lang="he-IL" dirty="0" smtClean="0"/>
              <a:t>שנמצאים באותו </a:t>
            </a:r>
            <a:r>
              <a:rPr lang="he-IL" dirty="0"/>
              <a:t>בית. </a:t>
            </a:r>
            <a:endParaRPr lang="he-IL" dirty="0" smtClean="0"/>
          </a:p>
          <a:p>
            <a:pPr marL="0" indent="0">
              <a:buNone/>
            </a:pPr>
            <a:endParaRPr lang="he-IL" dirty="0"/>
          </a:p>
          <a:p>
            <a:r>
              <a:rPr lang="he-IL" dirty="0" smtClean="0"/>
              <a:t>אין </a:t>
            </a:r>
            <a:r>
              <a:rPr lang="he-IL" dirty="0"/>
              <a:t>לצאת למסגרות עבודה או חינוך בימים </a:t>
            </a:r>
            <a:r>
              <a:rPr lang="he-IL" dirty="0" smtClean="0"/>
              <a:t>אלה</a:t>
            </a:r>
            <a:endParaRPr lang="he-IL" dirty="0"/>
          </a:p>
        </p:txBody>
      </p:sp>
      <p:pic>
        <p:nvPicPr>
          <p:cNvPr id="4" name="Picture 2" descr="Hadassah Logo - LogoDi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112269"/>
            <a:ext cx="1219483" cy="10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848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94022"/>
          </a:xfrm>
        </p:spPr>
        <p:txBody>
          <a:bodyPr/>
          <a:lstStyle/>
          <a:p>
            <a:endParaRPr lang="he-IL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72" y="3381152"/>
            <a:ext cx="3966755" cy="3358301"/>
          </a:xfrm>
          <a:prstGeom prst="rect">
            <a:avLst/>
          </a:prstGeom>
        </p:spPr>
      </p:pic>
      <p:pic>
        <p:nvPicPr>
          <p:cNvPr id="7" name="Picture 2" descr="Hadassah Logo - LogoDi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112269"/>
            <a:ext cx="1219483" cy="10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068" y="3381153"/>
            <a:ext cx="4075537" cy="3358300"/>
          </a:xfrm>
          <a:prstGeom prst="rect">
            <a:avLst/>
          </a:prstGeom>
        </p:spPr>
      </p:pic>
      <p:pic>
        <p:nvPicPr>
          <p:cNvPr id="9" name="תמונה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2246" y="3381152"/>
            <a:ext cx="3436852" cy="335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98170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